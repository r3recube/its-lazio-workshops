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HANDS-ON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7772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4600" b="1">
                <a:solidFill>
                  <a:srgbClr val="000000"/>
                </a:solidFill>
                <a:latin typeface="Inter"/>
              </a:rPr>
              <a:t>Terraform on AWS: from first apply to a secure multi-tier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2926080"/>
            <a:ext cx="320040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Inter"/>
              </a:rPr>
              <a:t>Il partecipante interpreta un cloud engineer che deve eseguire il provisioning e mettere in sicurezza uno stack web a tre tier su AWS usando esclusivamente Terraform, integrando Ansible per la configurazione OS e tfsec per lo scan di sicurezza del codice IaC.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17920"/>
            <a:ext cx="9144000" cy="274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Inter"/>
              </a:rPr>
              <a:t>Durata stimata: 180 minuti  ·  Pre-lab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400" b="1">
                <a:solidFill>
                  <a:srgbClr val="000000"/>
                </a:solidFill>
                <a:latin typeface="Inter"/>
              </a:rPr>
              <a:t>Cosa imparerai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PARTE 1 — FONDAMENTI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926080"/>
            <a:ext cx="54864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Installare e configurare la CLI Terraform e il provider AWS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Scrivere risorse HCL: aws_instance, aws_lb, aws_db_instance, security group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Eseguire il ciclo terraform init → plan → apply → destroy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Comporre un'architettura multi-AZ e multi-tier (EC2 + ALB + RDS MySQL)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PARTE 2 — APPLICAZIONE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26080"/>
            <a:ext cx="5486400" cy="3200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Integrare Ansible con gli output di Terraform per configurare le istanze provisionate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Eseguire lo scan di sicurezza del codice Terraform con tfsec</a:t>
            </a:r>
          </a:p>
          <a:p>
            <a:pPr algn="l">
              <a:spcAft>
                <a:spcPts val="10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•  </a:t>
            </a:r>
            <a:r>
              <a:rPr sz="1300">
                <a:solidFill>
                  <a:srgbClr val="444444"/>
                </a:solidFill>
                <a:latin typeface="Inter"/>
              </a:rPr>
              <a:t>Correggere finding reali di tfsec e comprendere i controlli AWS sottostanti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4846320"/>
          </a:xfrm>
          <a:prstGeom prst="rect">
            <a:avLst/>
          </a:prstGeom>
          <a:solidFill>
            <a:srgbClr val="02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EBB700"/>
                </a:solidFill>
                <a:latin typeface="Inter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38912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Lo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46888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Inter"/>
              </a:rPr>
              <a:t>Deployment di un'applicazione PHP+MySQL accessibile tramite Application Load Balancer, su infrastruttura cloud gestita interamente come codice.
Il partecipante interpreta un cloud engineer che deve eseguire il provisioning e mettere in sicurezza uno stack web a tre tier su AWS usando esclusivamente Terraform, integrando Ansible per la configurazione OS e tfsec per lo scan di sicurezza del codice IaC.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ARCHITETTURA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Architettura di riferimento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82296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Inter"/>
              </a:rPr>
              <a:t>Stack a tre tier deployato su una VPC dedicata (10.20.0.0/16) con due subnet pubbliche in AZ diverse (eu-west-1a, eu-west-1b). Il traffico HTTP pubblico entra tramite un Application Load Balancer internet-facing e viene distribuito su due EC2 t3.micro (una per AZ) che servono una pagina PHP connessa a un'istanza RDS MySQL 8.0 non pubblicamente accessibile. In Task 4 si aggiunge un bucket S3 per i log di accesso dell'ALB, con cifratura AES256 e bucket policy per il service account ELB.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VPC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Subnet public_a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3383280"/>
            <a:ext cx="361188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611880"/>
            <a:ext cx="315468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COMPONENTE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931920"/>
            <a:ext cx="315468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 b="1">
                <a:solidFill>
                  <a:srgbClr val="000000"/>
                </a:solidFill>
                <a:latin typeface="Inter"/>
              </a:rPr>
              <a:t>Subnet public_b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89120"/>
            <a:ext cx="3154680" cy="13258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000">
                <a:solidFill>
                  <a:srgbClr val="444444"/>
                </a:solidFill>
                <a:latin typeface="Inter"/>
              </a:rPr>
              <a:t>Componente del sistema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Internet → ALB HTTP:80 via aws_security_group.alb (ingress 0.0.0.0/0:80)  →  ALB → EC2 web_a / web_b HTTP:80 via aws_security_group.ec2 (ingress da SG ALB, non da CIDR)  →  EC2 → RDS MySQL TCP:3306 via aws_security_group.rds (ingress da SG EC2, non da CIDR)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5029200" cy="4846320"/>
          </a:xfrm>
          <a:prstGeom prst="rect">
            <a:avLst/>
          </a:prstGeom>
          <a:solidFill>
            <a:srgbClr val="026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114800" cy="36576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1100" b="1">
                <a:solidFill>
                  <a:srgbClr val="EBB700"/>
                </a:solidFill>
                <a:latin typeface="Inter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38912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Inter"/>
              </a:rPr>
              <a:t>Concetti chiave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246888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1400" b="0">
                <a:solidFill>
                  <a:srgbClr val="444444"/>
                </a:solidFill>
                <a:latin typeface="Inter"/>
              </a:rPr>
              <a:t>I principi e i pattern che il lab introduce — capire questi rende il resto fluido.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Sensitive Variable Injection via TF_VAR_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Meccanismo Terraform che legge variabili da variabili d'ambiente con prefisso TF_VAR_, combinato con sensitive = true per impedire che i valori appaiano nei log di plan/apply.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Passare la password del DB come TF_VAR_db_password evita che finisca in version control o in file .tfvars committati per errore. Il flag sensitive = true estende la protezione ai log di terraform plan e apply nei CI/CD pipeline, riducendo il rischio di data leakage in ambienti condivisi. È il pattern minimo accettabile per gestire segreti in Terraform senza dipendere da Vault o Secrets Manager.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Terraform Declarative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Sequenza di comandi init → plan → apply → destroy che gestisce il ciclo di vita completo dell'infrastruttura dichiarata in HCL.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A differenza degli approcci imperativi (script bash, AWS CLI), il modello dichiarativo permette a Terraform di calcolare autonomamente le azioni necessarie confrontando lo stato desiderato con lo stato reale. Ogni comando ha una responsabilità distinta: init scarica provider e moduli, plan genera la diff, apply la materializza, destroy è il rollback completo. Questa separazione di fasi rende il processo verificabile e ripetibile.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CONCETTO CHIAVE  #3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Terraform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03520" cy="347472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026172"/>
                </a:solidFill>
                <a:latin typeface="Inter"/>
              </a:rPr>
              <a:t>DEFINIZIONE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4754880" cy="25603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800" b="1">
                <a:solidFill>
                  <a:srgbClr val="000000"/>
                </a:solidFill>
                <a:latin typeface="Inter"/>
              </a:rPr>
              <a:t>File terraform.tfstate che mappa ogni risorsa HCL alla corrispondente risorsa reale nel provider cloud.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560320"/>
            <a:ext cx="54864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PERCHÉ CONTA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17520"/>
            <a:ext cx="54864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r>
              <a:rPr sz="1500">
                <a:solidFill>
                  <a:srgbClr val="444444"/>
                </a:solidFill>
                <a:latin typeface="Inter"/>
              </a:rPr>
              <a:t>Lo state è il meccanismo con cui Terraform sa cosa creare, modificare o distruggere senza interrogare l'intera API cloud a ogni esecuzione. In questo lab si usa state locale (sufficiente per ambienti singolo-operatore); in team lo state è remoto con locking su DynamoDB per evitare applicazioni concorrenti. Comprendere lo state è prerequisito per capire perché terraform destroy funziona senza argomenti aggiuntivi.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PRE-REQUISITI E NUOVE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Da dove parti, dove arrivi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60320"/>
            <a:ext cx="539496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Inter"/>
              </a:rPr>
              <a:t>COSA DEVI GIÀ SAPERE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93776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AWS account con accesso programmatico (Access Key + Secret Key) e una EC2 Key Pair esistente nella regione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Comandi base Linux (cd, ls, cat, ssh)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Comprensione concettuale di EC2, VPC e subnet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Python 3 e Ansible installati localmente (pip install ansible boto3 botocore)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Concetto di Infrastructure as Code: descrivere lo stato target invece di comandi imperativi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◦  </a:t>
            </a:r>
            <a:r>
              <a:rPr sz="1200">
                <a:solidFill>
                  <a:srgbClr val="444444"/>
                </a:solidFill>
                <a:latin typeface="Inter"/>
              </a:rPr>
              <a:t>Nozione di load balancer e modello client/server HTTP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560320"/>
            <a:ext cx="5303520" cy="3657600"/>
          </a:xfrm>
          <a:prstGeom prst="rect">
            <a:avLst/>
          </a:prstGeom>
          <a:solidFill>
            <a:srgbClr val="F8F1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834640"/>
            <a:ext cx="45720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COSA SAPRAI FARE AL TERMINE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91840"/>
            <a:ext cx="4846320" cy="2743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Scrivere e strutturare codice HCL Terraform per risorse AWS di produzione (VPC, EC2, ALB, RDS, S3)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Eseguire e interpretare il ciclo completo terraform init → plan → apply → destroy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Usare data sources Terraform per risolvere AMI ID dinamicamente senza hardcoding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Integrare Terraform e Ansible passando output come inventory e variabili di configurazione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Progettare una rete AWS multi-AZ con VPC, subnet, Internet Gateway e route table</a:t>
            </a:r>
          </a:p>
          <a:p>
            <a:pPr algn="l">
              <a:spcAft>
                <a:spcPts val="1000"/>
              </a:spcAft>
            </a:pPr>
            <a:r>
              <a:rPr sz="1200" b="1">
                <a:solidFill>
                  <a:srgbClr val="EBB700"/>
                </a:solidFill>
                <a:latin typeface="Inter"/>
              </a:rPr>
              <a:t>→  </a:t>
            </a:r>
            <a:r>
              <a:rPr sz="1200">
                <a:solidFill>
                  <a:srgbClr val="444444"/>
                </a:solidFill>
                <a:latin typeface="Inter"/>
              </a:rPr>
              <a:t>Implementare security group chaining (SG reference) per isolare i tier di un'applicazione web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201168" cy="201168"/>
          </a:xfrm>
          <a:prstGeom prst="rect">
            <a:avLst/>
          </a:prstGeom>
          <a:solidFill>
            <a:srgbClr val="EB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274320"/>
            <a:ext cx="1371600" cy="5486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444444"/>
                </a:solidFill>
                <a:latin typeface="Inter"/>
              </a:rPr>
              <a:t>RECUBE TRAINOPS</a:t>
            </a:r>
          </a:p>
          <a:p>
            <a:pPr algn="r">
              <a:spcBef>
                <a:spcPts val="0"/>
              </a:spcBef>
            </a:pPr>
            <a:r>
              <a:rPr sz="800" b="0">
                <a:solidFill>
                  <a:srgbClr val="666666"/>
                </a:solidFill>
                <a:latin typeface="Inter"/>
              </a:rPr>
              <a:t>PRE-LAB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7315200" cy="27432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00" b="1">
                <a:solidFill>
                  <a:srgbClr val="EBB700"/>
                </a:solidFill>
                <a:latin typeface="Inter"/>
              </a:rPr>
              <a:t>ROADMAP DEL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9144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Inter"/>
              </a:rPr>
              <a:t>I task che faremo, in ordine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0972800" cy="3657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01  </a:t>
            </a:r>
            <a:r>
              <a:rPr sz="1300" b="1">
                <a:solidFill>
                  <a:srgbClr val="000000"/>
                </a:solidFill>
                <a:latin typeface="Inter"/>
              </a:rPr>
              <a:t>Terraform basics: una singola EC2</a:t>
            </a:r>
            <a:r>
              <a:rPr sz="1100">
                <a:solidFill>
                  <a:srgbClr val="666666"/>
                </a:solidFill>
                <a:latin typeface="Inter"/>
              </a:rPr>
              <a:t>    ~25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02  </a:t>
            </a:r>
            <a:r>
              <a:rPr sz="1300" b="1">
                <a:solidFill>
                  <a:srgbClr val="000000"/>
                </a:solidFill>
                <a:latin typeface="Inter"/>
              </a:rPr>
              <a:t>Integrazione Terraform + Ansible</a:t>
            </a:r>
            <a:r>
              <a:rPr sz="1100">
                <a:solidFill>
                  <a:srgbClr val="666666"/>
                </a:solidFill>
                <a:latin typeface="Inter"/>
              </a:rPr>
              <a:t>    ~35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03  </a:t>
            </a:r>
            <a:r>
              <a:rPr sz="1300" b="1">
                <a:solidFill>
                  <a:srgbClr val="000000"/>
                </a:solidFill>
                <a:latin typeface="Inter"/>
              </a:rPr>
              <a:t>Architettura multi-tier: 2× EC2 + ALB + RDS + PHP</a:t>
            </a:r>
            <a:r>
              <a:rPr sz="1100">
                <a:solidFill>
                  <a:srgbClr val="666666"/>
                </a:solidFill>
                <a:latin typeface="Inter"/>
              </a:rPr>
              <a:t>    ~75 min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EBB700"/>
                </a:solidFill>
                <a:latin typeface="Inter"/>
              </a:rPr>
              <a:t>04  </a:t>
            </a:r>
            <a:r>
              <a:rPr sz="1300" b="1">
                <a:solidFill>
                  <a:srgbClr val="000000"/>
                </a:solidFill>
                <a:latin typeface="Inter"/>
              </a:rPr>
              <a:t>Security scanning con tfsec</a:t>
            </a:r>
            <a:r>
              <a:rPr sz="1100">
                <a:solidFill>
                  <a:srgbClr val="666666"/>
                </a:solidFill>
                <a:latin typeface="Inter"/>
              </a:rPr>
              <a:t>    ~45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800" b="1">
                <a:solidFill>
                  <a:srgbClr val="026172"/>
                </a:solidFill>
                <a:latin typeface="Inter"/>
              </a:rPr>
              <a:t>Domande prima di iniziare?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